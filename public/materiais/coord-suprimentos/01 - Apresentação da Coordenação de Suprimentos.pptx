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4"/>
  </p:sldMasterIdLst>
  <p:notesMasterIdLst>
    <p:notesMasterId r:id="rId10"/>
  </p:notesMasterIdLst>
  <p:sldIdLst>
    <p:sldId id="276" r:id="rId5"/>
    <p:sldId id="283" r:id="rId6"/>
    <p:sldId id="300" r:id="rId7"/>
    <p:sldId id="301" r:id="rId8"/>
    <p:sldId id="274" r:id="rId9"/>
  </p:sldIdLst>
  <p:sldSz cx="14630400" cy="82296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394E29E5-CCEF-47D7-B658-FAD5F8BAEA92}">
          <p14:sldIdLst>
            <p14:sldId id="276"/>
            <p14:sldId id="283"/>
            <p14:sldId id="300"/>
            <p14:sldId id="301"/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592" userDrawn="1">
          <p15:clr>
            <a:srgbClr val="A4A3A4"/>
          </p15:clr>
        </p15:guide>
        <p15:guide id="2" pos="4608" userDrawn="1">
          <p15:clr>
            <a:srgbClr val="A4A3A4"/>
          </p15:clr>
        </p15:guide>
        <p15:guide id="3" pos="526" userDrawn="1">
          <p15:clr>
            <a:srgbClr val="A4A3A4"/>
          </p15:clr>
        </p15:guide>
        <p15:guide id="4" orient="horz" pos="664" userDrawn="1">
          <p15:clr>
            <a:srgbClr val="A4A3A4"/>
          </p15:clr>
        </p15:guide>
        <p15:guide id="5" pos="869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AED"/>
    <a:srgbClr val="0445A2"/>
    <a:srgbClr val="00518E"/>
    <a:srgbClr val="1B54DA"/>
    <a:srgbClr val="AAC6E7"/>
    <a:srgbClr val="156082"/>
    <a:srgbClr val="0446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AB31AC-D256-4808-AE9F-26B695DDCE0C}" v="5" dt="2026-01-02T18:44:02.5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828" y="66"/>
      </p:cViewPr>
      <p:guideLst>
        <p:guide orient="horz" pos="2592"/>
        <p:guide pos="4608"/>
        <p:guide pos="526"/>
        <p:guide orient="horz" pos="664"/>
        <p:guide pos="869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1DB43-CFC8-49EF-B785-F76AD7661818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763C51-C3F6-4754-9DC1-7DA30AAD97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5098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1pPr>
    <a:lvl2pPr marL="54864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2pPr>
    <a:lvl3pPr marL="109728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3pPr>
    <a:lvl4pPr marL="164592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4pPr>
    <a:lvl5pPr marL="219456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5pPr>
    <a:lvl6pPr marL="274320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CF5D0-4C2B-37F7-F49A-8A84DE626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EE606E-5CBC-57A3-0A53-43A4CB6C33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F12E7B-3958-0452-72E4-1D216A0DD6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FBA4F8-CE6A-AB52-1A9A-181F403EB0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1993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7FE7C-DEB5-2C3B-5BFF-85538B936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10E51B-0ACC-8AD3-623D-A57C544D10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922908-CE85-56AB-5617-E703642FD9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8D866F-6E08-3D43-7B0C-B295E1FE4F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6029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800BA-99CA-6C70-1069-899C7BD52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B3F9E2-1960-3731-436D-99A73D6923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25E031-986B-1597-01F4-F1A48DE301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435830-7CB0-0E33-C3D7-324D81DC32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059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A3A08-9408-42F4-8891-0D8C0F1D0430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02D0A-0017-4F41-82F6-33F6FC40D6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3576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A3A08-9408-42F4-8891-0D8C0F1D0430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02D0A-0017-4F41-82F6-33F6FC40D6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5282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A3A08-9408-42F4-8891-0D8C0F1D0430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02D0A-0017-4F41-82F6-33F6FC40D6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4066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A3A08-9408-42F4-8891-0D8C0F1D0430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02D0A-0017-4F41-82F6-33F6FC40D6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6551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A3A08-9408-42F4-8891-0D8C0F1D0430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02D0A-0017-4F41-82F6-33F6FC40D6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1032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A3A08-9408-42F4-8891-0D8C0F1D0430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02D0A-0017-4F41-82F6-33F6FC40D6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6399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A3A08-9408-42F4-8891-0D8C0F1D0430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02D0A-0017-4F41-82F6-33F6FC40D6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631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A3A08-9408-42F4-8891-0D8C0F1D0430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02D0A-0017-4F41-82F6-33F6FC40D6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8475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A3A08-9408-42F4-8891-0D8C0F1D0430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02D0A-0017-4F41-82F6-33F6FC40D6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1401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A3A08-9408-42F4-8891-0D8C0F1D0430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02D0A-0017-4F41-82F6-33F6FC40D6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0369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A3A08-9408-42F4-8891-0D8C0F1D0430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02D0A-0017-4F41-82F6-33F6FC40D6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8002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54760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84044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77461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pos="460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AA3A08-9408-42F4-8891-0D8C0F1D0430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702D0A-0017-4F41-82F6-33F6FC40D6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770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</p:sldLayoutIdLst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Forma, Retângulo&#10;&#10;O conteúdo gerado por IA pode estar incorreto.">
            <a:extLst>
              <a:ext uri="{FF2B5EF4-FFF2-40B4-BE49-F238E27FC236}">
                <a16:creationId xmlns:a16="http://schemas.microsoft.com/office/drawing/2014/main" id="{1F05C1CC-B4DE-48C9-1FBA-46640BD38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77570" y="3531867"/>
            <a:ext cx="12472286" cy="1240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850"/>
              </a:lnSpc>
            </a:pPr>
            <a:r>
              <a:rPr lang="pt-BR" sz="3600" dirty="0">
                <a:solidFill>
                  <a:srgbClr val="00B0F0"/>
                </a:solidFill>
                <a:latin typeface="Montserrat Black" panose="020F0502020204030204" pitchFamily="2" charset="0"/>
                <a:ea typeface="Roboto Slab" pitchFamily="34" charset="-122"/>
                <a:cs typeface="Roboto Slab" pitchFamily="34" charset="-120"/>
              </a:rPr>
              <a:t>Apresentação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21CD47A-644A-51EB-4783-214A001F1360}"/>
              </a:ext>
            </a:extLst>
          </p:cNvPr>
          <p:cNvSpPr txBox="1"/>
          <p:nvPr/>
        </p:nvSpPr>
        <p:spPr>
          <a:xfrm>
            <a:off x="299963" y="2333945"/>
            <a:ext cx="1407102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chemeClr val="bg1"/>
                </a:solidFill>
                <a:latin typeface="Montserrat Black" panose="00000A00000000000000" pitchFamily="2" charset="0"/>
              </a:rPr>
              <a:t>Coordenação de Suprimentos</a:t>
            </a:r>
          </a:p>
        </p:txBody>
      </p:sp>
      <p:pic>
        <p:nvPicPr>
          <p:cNvPr id="9" name="Imagem 8" descr="Ícone&#10;&#10;O conteúdo gerado por IA pode estar incorreto.">
            <a:extLst>
              <a:ext uri="{FF2B5EF4-FFF2-40B4-BE49-F238E27FC236}">
                <a16:creationId xmlns:a16="http://schemas.microsoft.com/office/drawing/2014/main" id="{0B6F2863-6FFD-26D1-8BB3-9B94609A5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3400" y="6925853"/>
            <a:ext cx="1905000" cy="868362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5EFA036-E334-4A00-C553-04F6D88411E5}"/>
              </a:ext>
            </a:extLst>
          </p:cNvPr>
          <p:cNvGrpSpPr/>
          <p:nvPr/>
        </p:nvGrpSpPr>
        <p:grpSpPr>
          <a:xfrm>
            <a:off x="877570" y="6248399"/>
            <a:ext cx="1311897" cy="533254"/>
            <a:chOff x="755168" y="6248399"/>
            <a:chExt cx="1311897" cy="533254"/>
          </a:xfrm>
        </p:grpSpPr>
        <p:pic>
          <p:nvPicPr>
            <p:cNvPr id="5" name="Imagem 4" descr="Ícone&#10;&#10;O conteúdo gerado por IA pode estar incorreto.">
              <a:extLst>
                <a:ext uri="{FF2B5EF4-FFF2-40B4-BE49-F238E27FC236}">
                  <a16:creationId xmlns:a16="http://schemas.microsoft.com/office/drawing/2014/main" id="{1C4817B4-6FD9-3764-BED2-FF08503324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35043" y="6248399"/>
              <a:ext cx="432022" cy="504825"/>
            </a:xfrm>
            <a:prstGeom prst="rect">
              <a:avLst/>
            </a:prstGeom>
          </p:spPr>
        </p:pic>
        <p:pic>
          <p:nvPicPr>
            <p:cNvPr id="8" name="Imagem 7" descr="Placa amarela com letras pretas&#10;&#10;O conteúdo gerado por IA pode estar incorreto.">
              <a:extLst>
                <a:ext uri="{FF2B5EF4-FFF2-40B4-BE49-F238E27FC236}">
                  <a16:creationId xmlns:a16="http://schemas.microsoft.com/office/drawing/2014/main" id="{25DD9177-4B9B-9B09-B450-E2F9E877EC9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2526" y="6248399"/>
              <a:ext cx="432022" cy="504825"/>
            </a:xfrm>
            <a:prstGeom prst="rect">
              <a:avLst/>
            </a:prstGeom>
          </p:spPr>
        </p:pic>
        <p:pic>
          <p:nvPicPr>
            <p:cNvPr id="11" name="Imagem 10" descr="Texto&#10;&#10;O conteúdo gerado por IA pode estar incorreto.">
              <a:extLst>
                <a:ext uri="{FF2B5EF4-FFF2-40B4-BE49-F238E27FC236}">
                  <a16:creationId xmlns:a16="http://schemas.microsoft.com/office/drawing/2014/main" id="{1341C75F-555C-A886-0A27-6C77843C248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5168" y="6248400"/>
              <a:ext cx="314012" cy="53325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99386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99655-075D-5BDE-FB5A-8B073F5FF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 descr="Forma, Retângulo&#10;&#10;O conteúdo gerado por IA pode estar incorreto.">
            <a:extLst>
              <a:ext uri="{FF2B5EF4-FFF2-40B4-BE49-F238E27FC236}">
                <a16:creationId xmlns:a16="http://schemas.microsoft.com/office/drawing/2014/main" id="{7130E9DF-74AE-92B7-EDE3-E7E4116B7D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74" b="57580"/>
          <a:stretch>
            <a:fillRect/>
          </a:stretch>
        </p:blipFill>
        <p:spPr>
          <a:xfrm>
            <a:off x="0" y="7446195"/>
            <a:ext cx="14630400" cy="783406"/>
          </a:xfrm>
          <a:prstGeom prst="rect">
            <a:avLst/>
          </a:prstGeom>
        </p:spPr>
      </p:pic>
      <p:sp>
        <p:nvSpPr>
          <p:cNvPr id="25" name="CaixaDeTexto 24">
            <a:extLst>
              <a:ext uri="{FF2B5EF4-FFF2-40B4-BE49-F238E27FC236}">
                <a16:creationId xmlns:a16="http://schemas.microsoft.com/office/drawing/2014/main" id="{7CC34B25-1141-6F83-3423-6E89AD91AC38}"/>
              </a:ext>
            </a:extLst>
          </p:cNvPr>
          <p:cNvSpPr txBox="1"/>
          <p:nvPr/>
        </p:nvSpPr>
        <p:spPr>
          <a:xfrm>
            <a:off x="649598" y="580205"/>
            <a:ext cx="102568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3600" dirty="0">
                <a:solidFill>
                  <a:srgbClr val="1B54DA"/>
                </a:solidFill>
                <a:latin typeface="Montserrat Black" panose="00000A00000000000000" pitchFamily="2" charset="0"/>
                <a:ea typeface="Roboto Slab" pitchFamily="34" charset="-122"/>
                <a:cs typeface="Roboto Slab" pitchFamily="34" charset="-120"/>
              </a:rPr>
              <a:t>Coordenação de Suprimentos</a:t>
            </a:r>
            <a:endParaRPr lang="pt-BR" sz="3600" dirty="0">
              <a:solidFill>
                <a:srgbClr val="1B54DA"/>
              </a:solidFill>
              <a:latin typeface="Montserrat Black" panose="00000A00000000000000" pitchFamily="2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2DF4FBE-F722-C3BB-80FA-F5A0C91CC813}"/>
              </a:ext>
            </a:extLst>
          </p:cNvPr>
          <p:cNvSpPr txBox="1"/>
          <p:nvPr/>
        </p:nvSpPr>
        <p:spPr>
          <a:xfrm>
            <a:off x="649598" y="2268140"/>
            <a:ext cx="666560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/>
              <a:t>A </a:t>
            </a:r>
            <a:r>
              <a:rPr lang="pt-BR" b="1" dirty="0"/>
              <a:t>Coordenação de Suprimentos</a:t>
            </a:r>
            <a:r>
              <a:rPr lang="pt-BR" dirty="0"/>
              <a:t> é a área responsável por </a:t>
            </a:r>
            <a:r>
              <a:rPr lang="pt-BR" b="1" dirty="0"/>
              <a:t>planejar, organizar, controlar e garantir o fluxo eficiente de materiais, produtos e serviços</a:t>
            </a:r>
            <a:r>
              <a:rPr lang="pt-BR" dirty="0"/>
              <a:t> necessários para o funcionamento da empresa.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  <a:p>
            <a:pPr algn="just"/>
            <a:endParaRPr lang="pt-BR" dirty="0"/>
          </a:p>
          <a:p>
            <a:pPr algn="just"/>
            <a:r>
              <a:rPr lang="pt-BR" dirty="0"/>
              <a:t>Sua atuação assegura que todos os recursos sejam adquiridos, recebidos, armazenados e distribuídos de forma </a:t>
            </a:r>
            <a:r>
              <a:rPr lang="pt-BR" b="1" dirty="0"/>
              <a:t>padronizada, rastreável e eficiente</a:t>
            </a:r>
            <a:r>
              <a:rPr lang="pt-BR" dirty="0"/>
              <a:t>, contribuindo diretamente para a continuidade das operações e redução de custos.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1712EAD-CC2F-B87E-35BF-AF870E1933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956" y="1524000"/>
            <a:ext cx="6829778" cy="497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267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3BD28-E9EC-B468-B9B8-77E088D9E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 descr="Forma, Retângulo&#10;&#10;O conteúdo gerado por IA pode estar incorreto.">
            <a:extLst>
              <a:ext uri="{FF2B5EF4-FFF2-40B4-BE49-F238E27FC236}">
                <a16:creationId xmlns:a16="http://schemas.microsoft.com/office/drawing/2014/main" id="{F64BDFAC-5D01-9D81-D38D-BF1D04395F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74" b="57580"/>
          <a:stretch>
            <a:fillRect/>
          </a:stretch>
        </p:blipFill>
        <p:spPr>
          <a:xfrm>
            <a:off x="0" y="7446195"/>
            <a:ext cx="14630400" cy="783406"/>
          </a:xfrm>
          <a:prstGeom prst="rect">
            <a:avLst/>
          </a:prstGeom>
        </p:spPr>
      </p:pic>
      <p:sp>
        <p:nvSpPr>
          <p:cNvPr id="25" name="CaixaDeTexto 24">
            <a:extLst>
              <a:ext uri="{FF2B5EF4-FFF2-40B4-BE49-F238E27FC236}">
                <a16:creationId xmlns:a16="http://schemas.microsoft.com/office/drawing/2014/main" id="{1FC24605-24F7-1EC8-9D8A-435CE01EBCB5}"/>
              </a:ext>
            </a:extLst>
          </p:cNvPr>
          <p:cNvSpPr txBox="1"/>
          <p:nvPr/>
        </p:nvSpPr>
        <p:spPr>
          <a:xfrm>
            <a:off x="649598" y="580205"/>
            <a:ext cx="102568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3600" dirty="0">
                <a:solidFill>
                  <a:srgbClr val="1B54DA"/>
                </a:solidFill>
                <a:latin typeface="Montserrat Black" panose="00000A00000000000000" pitchFamily="2" charset="0"/>
                <a:ea typeface="Roboto Slab" pitchFamily="34" charset="-122"/>
                <a:cs typeface="Roboto Slab" pitchFamily="34" charset="-120"/>
              </a:rPr>
              <a:t>Coordenação de Suprimentos</a:t>
            </a:r>
            <a:endParaRPr lang="pt-BR" sz="3600" dirty="0">
              <a:solidFill>
                <a:srgbClr val="1B54DA"/>
              </a:solidFill>
              <a:latin typeface="Montserrat Black" panose="00000A00000000000000" pitchFamily="2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C851653-94B0-25E3-9F03-7E63494208C8}"/>
              </a:ext>
            </a:extLst>
          </p:cNvPr>
          <p:cNvSpPr txBox="1"/>
          <p:nvPr/>
        </p:nvSpPr>
        <p:spPr>
          <a:xfrm>
            <a:off x="330443" y="1581709"/>
            <a:ext cx="1396951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/>
              <a:t>A </a:t>
            </a:r>
            <a:r>
              <a:rPr lang="pt-BR" b="1" dirty="0"/>
              <a:t>Coordenação de Suprimentos</a:t>
            </a:r>
            <a:r>
              <a:rPr lang="pt-BR" dirty="0"/>
              <a:t> é composta por três áreas fundamentais, que trabalham de forma integrada para assegurar o fluxo eficiente de materiais, produtos e serviços na empresa:</a:t>
            </a:r>
          </a:p>
          <a:p>
            <a:pPr algn="just"/>
            <a:endParaRPr lang="pt-BR" dirty="0"/>
          </a:p>
          <a:p>
            <a:endParaRPr lang="pt-BR" dirty="0"/>
          </a:p>
          <a:p>
            <a:r>
              <a:rPr lang="pt-BR" dirty="0"/>
              <a:t>📦 </a:t>
            </a:r>
            <a:r>
              <a:rPr lang="pt-BR" b="1" dirty="0"/>
              <a:t>Almoxarifado:</a:t>
            </a:r>
            <a:r>
              <a:rPr lang="pt-BR" dirty="0"/>
              <a:t> responsável pelo recebimento, armazenamento, controle de ferramentas, controle de materiais e distribuição dos materiais. </a:t>
            </a:r>
          </a:p>
          <a:p>
            <a:endParaRPr lang="pt-BR" dirty="0"/>
          </a:p>
          <a:p>
            <a:r>
              <a:rPr lang="pt-BR" dirty="0"/>
              <a:t>🛒 </a:t>
            </a:r>
            <a:r>
              <a:rPr lang="pt-BR" b="1" dirty="0"/>
              <a:t>Compras:</a:t>
            </a:r>
            <a:r>
              <a:rPr lang="pt-BR" dirty="0"/>
              <a:t> responsável pela aquisição de produtos e contratação de serviços e gestão de fornecedores; </a:t>
            </a:r>
          </a:p>
          <a:p>
            <a:endParaRPr lang="pt-BR" dirty="0"/>
          </a:p>
          <a:p>
            <a:r>
              <a:rPr lang="pt-BR" dirty="0"/>
              <a:t>🧾 </a:t>
            </a:r>
            <a:r>
              <a:rPr lang="pt-BR" b="1" dirty="0"/>
              <a:t>Área Fiscal:</a:t>
            </a:r>
            <a:r>
              <a:rPr lang="pt-BR" dirty="0"/>
              <a:t> responsável pela conferência e registro das notas fiscal das aquisições; 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80281BA-C965-341B-14D3-56B7427BAB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2843" y="4532489"/>
            <a:ext cx="8466667" cy="2347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96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B9345-7C40-D532-09C6-838FB8D7B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 descr="Forma, Retângulo&#10;&#10;O conteúdo gerado por IA pode estar incorreto.">
            <a:extLst>
              <a:ext uri="{FF2B5EF4-FFF2-40B4-BE49-F238E27FC236}">
                <a16:creationId xmlns:a16="http://schemas.microsoft.com/office/drawing/2014/main" id="{3634A292-D6DB-1F77-C72B-A9AD7FE243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74" b="57580"/>
          <a:stretch>
            <a:fillRect/>
          </a:stretch>
        </p:blipFill>
        <p:spPr>
          <a:xfrm>
            <a:off x="0" y="7446195"/>
            <a:ext cx="14630400" cy="783406"/>
          </a:xfrm>
          <a:prstGeom prst="rect">
            <a:avLst/>
          </a:prstGeom>
        </p:spPr>
      </p:pic>
      <p:sp>
        <p:nvSpPr>
          <p:cNvPr id="25" name="CaixaDeTexto 24">
            <a:extLst>
              <a:ext uri="{FF2B5EF4-FFF2-40B4-BE49-F238E27FC236}">
                <a16:creationId xmlns:a16="http://schemas.microsoft.com/office/drawing/2014/main" id="{274ED048-702A-52F2-27DD-8AAF0847CA60}"/>
              </a:ext>
            </a:extLst>
          </p:cNvPr>
          <p:cNvSpPr txBox="1"/>
          <p:nvPr/>
        </p:nvSpPr>
        <p:spPr>
          <a:xfrm>
            <a:off x="649598" y="580205"/>
            <a:ext cx="102568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3600" dirty="0">
                <a:solidFill>
                  <a:srgbClr val="1B54DA"/>
                </a:solidFill>
                <a:latin typeface="Montserrat Black" panose="00000A00000000000000" pitchFamily="2" charset="0"/>
                <a:ea typeface="Roboto Slab" pitchFamily="34" charset="-122"/>
                <a:cs typeface="Roboto Slab" pitchFamily="34" charset="-120"/>
              </a:rPr>
              <a:t>Coordenação de Suprimentos</a:t>
            </a:r>
            <a:endParaRPr lang="pt-BR" sz="3600" dirty="0">
              <a:solidFill>
                <a:srgbClr val="1B54DA"/>
              </a:solidFill>
              <a:latin typeface="Montserrat Black" panose="00000A00000000000000" pitchFamily="2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3788CDA-7251-417D-B92F-E3D75E5F2B30}"/>
              </a:ext>
            </a:extLst>
          </p:cNvPr>
          <p:cNvSpPr txBox="1"/>
          <p:nvPr/>
        </p:nvSpPr>
        <p:spPr>
          <a:xfrm>
            <a:off x="316089" y="2074208"/>
            <a:ext cx="6002624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pt-BR" dirty="0"/>
              <a:t>A Coordenação de Suprimentos é responsável pelos seguintes procedimentos:</a:t>
            </a:r>
          </a:p>
          <a:p>
            <a:pPr algn="just">
              <a:buNone/>
            </a:pPr>
            <a:endParaRPr lang="pt-BR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pt-BR" b="1" dirty="0"/>
              <a:t>PG-CSU-001</a:t>
            </a:r>
            <a:r>
              <a:rPr lang="pt-BR" dirty="0"/>
              <a:t> – Controle de Produtos e Serviços Fornecidos Externamente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pt-BR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pt-BR" b="1" dirty="0"/>
              <a:t>PGI-CSU-001</a:t>
            </a:r>
            <a:r>
              <a:rPr lang="pt-BR" dirty="0"/>
              <a:t> – Entrada de Notas Fiscais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pt-BR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pt-BR" b="1" dirty="0"/>
              <a:t>PGI-CSU-002</a:t>
            </a:r>
            <a:r>
              <a:rPr lang="pt-BR" dirty="0"/>
              <a:t> – Aquisição e Almoxarifado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pt-BR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pt-BR" b="1" dirty="0"/>
              <a:t>PGI-CSU-003</a:t>
            </a:r>
            <a:r>
              <a:rPr lang="pt-BR" dirty="0"/>
              <a:t> – Entrega e Recebimento de Ferramentas de Manutenção Mecânica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pt-BR" dirty="0"/>
          </a:p>
          <a:p>
            <a:pPr algn="just">
              <a:buFont typeface="Arial" panose="020B0604020202020204" pitchFamily="34" charset="0"/>
              <a:buChar char="•"/>
            </a:pPr>
            <a:endParaRPr lang="pt-BR" dirty="0"/>
          </a:p>
          <a:p>
            <a:pPr algn="just"/>
            <a:r>
              <a:rPr lang="pt-BR" sz="1600" i="1" dirty="0"/>
              <a:t>Nota: Disponíveis no sistema https://apps1.qualiex.com/Docs.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1A345159-815E-F766-7892-AD274065A8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1733" y="1226536"/>
            <a:ext cx="7642578" cy="593795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</p:pic>
    </p:spTree>
    <p:extLst>
      <p:ext uri="{BB962C8B-B14F-4D97-AF65-F5344CB8AC3E}">
        <p14:creationId xmlns:p14="http://schemas.microsoft.com/office/powerpoint/2010/main" val="3774335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Forma, Retângulo&#10;&#10;O conteúdo gerado por IA pode estar incorreto.">
            <a:extLst>
              <a:ext uri="{FF2B5EF4-FFF2-40B4-BE49-F238E27FC236}">
                <a16:creationId xmlns:a16="http://schemas.microsoft.com/office/drawing/2014/main" id="{76626222-A349-63DD-525C-0ADE87F2A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71EF3D33-01CC-15A5-A2DC-A2B8CC9CD5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63400" y="6925853"/>
            <a:ext cx="1905000" cy="868362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DDCEEBB5-E27A-D416-001C-4E6D8ADAE44B}"/>
              </a:ext>
            </a:extLst>
          </p:cNvPr>
          <p:cNvSpPr txBox="1"/>
          <p:nvPr/>
        </p:nvSpPr>
        <p:spPr>
          <a:xfrm>
            <a:off x="2590799" y="2488801"/>
            <a:ext cx="9448802" cy="918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4000" b="1" noProof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Obrigado a todos!</a:t>
            </a:r>
            <a:endParaRPr lang="pt-BR" sz="4000" b="1" noProof="0">
              <a:solidFill>
                <a:schemeClr val="bg1"/>
              </a:solidFill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87B4EE6-55F0-AC50-FF85-24AE4E618CC5}"/>
              </a:ext>
            </a:extLst>
          </p:cNvPr>
          <p:cNvSpPr txBox="1"/>
          <p:nvPr/>
        </p:nvSpPr>
        <p:spPr>
          <a:xfrm>
            <a:off x="762000" y="6852202"/>
            <a:ext cx="6553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noProof="0" dirty="0">
                <a:solidFill>
                  <a:srgbClr val="072788"/>
                </a:solidFill>
                <a:latin typeface="Montserrat" pitchFamily="34" charset="0"/>
              </a:rPr>
              <a:t>Antonio Carlos</a:t>
            </a:r>
          </a:p>
          <a:p>
            <a:r>
              <a:rPr lang="pt-BR" sz="2000" noProof="0" dirty="0">
                <a:solidFill>
                  <a:srgbClr val="072788"/>
                </a:solidFill>
                <a:latin typeface="Montserrat" pitchFamily="34" charset="0"/>
              </a:rPr>
              <a:t>Coordenação de Suprimentos</a:t>
            </a:r>
          </a:p>
          <a:p>
            <a:r>
              <a:rPr lang="pt-BR" sz="2000" dirty="0">
                <a:solidFill>
                  <a:srgbClr val="072788"/>
                </a:solidFill>
                <a:latin typeface="Montserrat" pitchFamily="34" charset="0"/>
              </a:rPr>
              <a:t>antonio@edeconsil.com.br / 98 98119-6500 / 8011</a:t>
            </a:r>
            <a:r>
              <a:rPr lang="pt-BR" sz="2000" noProof="0" dirty="0">
                <a:solidFill>
                  <a:srgbClr val="072788"/>
                </a:solidFill>
                <a:latin typeface="Montserrat" pitchFamily="34" charset="0"/>
              </a:rPr>
              <a:t> </a:t>
            </a:r>
            <a:endParaRPr lang="pt-BR" sz="2000" noProof="0" dirty="0">
              <a:solidFill>
                <a:srgbClr val="072788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557BD9C-5ED2-F9D4-1E4B-5656EBC6CCFC}"/>
              </a:ext>
            </a:extLst>
          </p:cNvPr>
          <p:cNvSpPr txBox="1"/>
          <p:nvPr/>
        </p:nvSpPr>
        <p:spPr>
          <a:xfrm>
            <a:off x="2590799" y="3962400"/>
            <a:ext cx="9448802" cy="5879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2400" i="1" noProof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#OrgulhoDeSerEdeconsil</a:t>
            </a:r>
            <a:endParaRPr lang="pt-BR" sz="2400" i="1" noProof="0">
              <a:solidFill>
                <a:schemeClr val="bg1"/>
              </a:solidFill>
            </a:endParaRPr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541B0626-63FF-6964-18CD-46E0C57331C7}"/>
              </a:ext>
            </a:extLst>
          </p:cNvPr>
          <p:cNvCxnSpPr>
            <a:cxnSpLocks/>
          </p:cNvCxnSpPr>
          <p:nvPr/>
        </p:nvCxnSpPr>
        <p:spPr>
          <a:xfrm>
            <a:off x="5486400" y="4550318"/>
            <a:ext cx="3657600" cy="0"/>
          </a:xfrm>
          <a:prstGeom prst="line">
            <a:avLst/>
          </a:prstGeom>
          <a:ln w="158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2" name="Agrupar 1">
            <a:extLst>
              <a:ext uri="{FF2B5EF4-FFF2-40B4-BE49-F238E27FC236}">
                <a16:creationId xmlns:a16="http://schemas.microsoft.com/office/drawing/2014/main" id="{55C8AE4A-C73B-30D4-536E-ACA2CC4E0D11}"/>
              </a:ext>
            </a:extLst>
          </p:cNvPr>
          <p:cNvGrpSpPr/>
          <p:nvPr/>
        </p:nvGrpSpPr>
        <p:grpSpPr>
          <a:xfrm>
            <a:off x="13483958" y="6388443"/>
            <a:ext cx="967365" cy="393210"/>
            <a:chOff x="755168" y="6248399"/>
            <a:chExt cx="1311897" cy="533254"/>
          </a:xfrm>
        </p:grpSpPr>
        <p:pic>
          <p:nvPicPr>
            <p:cNvPr id="3" name="Imagem 2" descr="Ícone&#10;&#10;O conteúdo gerado por IA pode estar incorreto.">
              <a:extLst>
                <a:ext uri="{FF2B5EF4-FFF2-40B4-BE49-F238E27FC236}">
                  <a16:creationId xmlns:a16="http://schemas.microsoft.com/office/drawing/2014/main" id="{C716C35F-A0EC-D1C2-C7EA-78486E26429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35043" y="6248399"/>
              <a:ext cx="432022" cy="504825"/>
            </a:xfrm>
            <a:prstGeom prst="rect">
              <a:avLst/>
            </a:prstGeom>
          </p:spPr>
        </p:pic>
        <p:pic>
          <p:nvPicPr>
            <p:cNvPr id="4" name="Imagem 3" descr="Placa amarela com letras pretas&#10;&#10;O conteúdo gerado por IA pode estar incorreto.">
              <a:extLst>
                <a:ext uri="{FF2B5EF4-FFF2-40B4-BE49-F238E27FC236}">
                  <a16:creationId xmlns:a16="http://schemas.microsoft.com/office/drawing/2014/main" id="{89EDC0D8-F495-27D6-93EE-90D5462053E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2526" y="6248399"/>
              <a:ext cx="432022" cy="504825"/>
            </a:xfrm>
            <a:prstGeom prst="rect">
              <a:avLst/>
            </a:prstGeom>
          </p:spPr>
        </p:pic>
        <p:pic>
          <p:nvPicPr>
            <p:cNvPr id="5" name="Imagem 4" descr="Texto&#10;&#10;O conteúdo gerado por IA pode estar incorreto.">
              <a:extLst>
                <a:ext uri="{FF2B5EF4-FFF2-40B4-BE49-F238E27FC236}">
                  <a16:creationId xmlns:a16="http://schemas.microsoft.com/office/drawing/2014/main" id="{3C484816-99DD-E866-CC12-6B55FE56387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5168" y="6248400"/>
              <a:ext cx="314012" cy="53325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C7CCFAD22BC4C44A0210FB83DA8AD6A" ma:contentTypeVersion="3" ma:contentTypeDescription="Crie um novo documento." ma:contentTypeScope="" ma:versionID="ddd787bc5131b0fcc69be478982f05f4">
  <xsd:schema xmlns:xsd="http://www.w3.org/2001/XMLSchema" xmlns:xs="http://www.w3.org/2001/XMLSchema" xmlns:p="http://schemas.microsoft.com/office/2006/metadata/properties" xmlns:ns2="081953e7-f13c-493f-b6a5-52757826913a" targetNamespace="http://schemas.microsoft.com/office/2006/metadata/properties" ma:root="true" ma:fieldsID="2f2d9d1277c51b0895f220940628ba37" ns2:_="">
    <xsd:import namespace="081953e7-f13c-493f-b6a5-52757826913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1953e7-f13c-493f-b6a5-5275782691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EBDFFFB-8EA0-4BF6-8419-3E3899EB7FCA}">
  <ds:schemaRefs>
    <ds:schemaRef ds:uri="http://schemas.microsoft.com/office/infopath/2007/PartnerControls"/>
    <ds:schemaRef ds:uri="http://purl.org/dc/elements/1.1/"/>
    <ds:schemaRef ds:uri="http://purl.org/dc/dcmitype/"/>
    <ds:schemaRef ds:uri="http://purl.org/dc/terms/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081953e7-f13c-493f-b6a5-52757826913a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87D4DA08-6854-4B36-81A6-3589D23B873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0BA0B33-C063-475F-82EA-8B46B99492C4}">
  <ds:schemaRefs>
    <ds:schemaRef ds:uri="081953e7-f13c-493f-b6a5-52757826913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5741</TotalTime>
  <Words>245</Words>
  <Application>Microsoft Office PowerPoint</Application>
  <PresentationFormat>Personalizar</PresentationFormat>
  <Paragraphs>39</Paragraphs>
  <Slides>5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Montserrat</vt:lpstr>
      <vt:lpstr>Montserrat Black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 Cavalcante</dc:creator>
  <cp:lastModifiedBy>Off compras</cp:lastModifiedBy>
  <cp:revision>6</cp:revision>
  <dcterms:created xsi:type="dcterms:W3CDTF">2025-11-12T15:23:21Z</dcterms:created>
  <dcterms:modified xsi:type="dcterms:W3CDTF">2026-04-24T23:00:15Z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0x0101007C7CCFAD22BC4C44A0210FB83DA8AD6A</vt:lpwstr>
  </property>
</Properties>
</file>